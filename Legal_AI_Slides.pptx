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Lebanese Legal AI</a:t>
            </a:r>
          </a:p>
          <a:p>
            <a:r>
              <a:rPr sz="2400">
                <a:solidFill>
                  <a:srgbClr val="93C5FD"/>
                </a:solidFill>
              </a:rPr>
              <a:t>Project Update &amp; Benchmark Report</a:t>
            </a:r>
          </a:p>
          <a:p>
            <a:r>
              <a:rPr sz="1600">
                <a:solidFill>
                  <a:srgbClr val="BFD3E6"/>
                </a:solidFill>
              </a:rPr>
              <a:t>Multi-Agent Retrieval-Augmented System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200">
                <a:solidFill>
                  <a:srgbClr val="1E3A5F"/>
                </a:solidFill>
              </a:rPr>
              <a:t>• Strong on Arabic — </a:t>
            </a:r>
            <a:r>
              <a:rPr sz="2200">
                <a:solidFill>
                  <a:srgbClr val="222222"/>
                </a:solidFill>
              </a:rPr>
              <a:t>finds a correct article 72% of the time in its top 5 results (81% in top 10).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1E3A5F"/>
                </a:solidFill>
              </a:rPr>
              <a:t>• Writes well — </a:t>
            </a:r>
            <a:r>
              <a:rPr sz="2200">
                <a:solidFill>
                  <a:srgbClr val="222222"/>
                </a:solidFill>
              </a:rPr>
              <a:t>the memoranda it writes are rated 4.6/5 for legal quality.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1E3A5F"/>
                </a:solidFill>
              </a:rPr>
              <a:t>• Rigorous — </a:t>
            </a:r>
            <a:r>
              <a:rPr sz="2200">
                <a:solidFill>
                  <a:srgbClr val="222222"/>
                </a:solidFill>
              </a:rPr>
              <a:t>search method and settings were chosen from benchmark evidence, not guesswork.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1E3A5F"/>
                </a:solidFill>
              </a:rPr>
              <a:t>• Honest next step — </a:t>
            </a:r>
            <a:r>
              <a:rPr sz="2200">
                <a:solidFill>
                  <a:srgbClr val="222222"/>
                </a:solidFill>
              </a:rPr>
              <a:t>English/French retrieval and exact-citation precision — both with a fix already scoped.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9D58"/>
                </a:solidFill>
              </a:rPr>
              <a:t>Arabic: 72% / 81% hit-rate (top 5 / 10)      |      Answer quality: 4.6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How the System Works</a:t>
            </a:r>
          </a:p>
          <a:p>
            <a:r>
              <a:rPr sz="1400">
                <a:solidFill>
                  <a:srgbClr val="BFD3E6"/>
                </a:solidFill>
              </a:rPr>
              <a:t>A pipeline of specialised AI agents — one job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Orchestrator → </a:t>
            </a:r>
            <a:r>
              <a:rPr sz="1700">
                <a:solidFill>
                  <a:srgbClr val="222222"/>
                </a:solidFill>
              </a:rPr>
              <a:t>decides the question type (general law vs. a case to assess).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Query Understanding → </a:t>
            </a:r>
            <a:r>
              <a:rPr sz="1700">
                <a:solidFill>
                  <a:srgbClr val="222222"/>
                </a:solidFill>
              </a:rPr>
              <a:t>detects language &amp; domain, extracts the facts.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Research (RAG) → </a:t>
            </a:r>
            <a:r>
              <a:rPr sz="1700">
                <a:solidFill>
                  <a:srgbClr val="222222"/>
                </a:solidFill>
              </a:rPr>
              <a:t>retrieves the most relevant articles and rulings.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Analysis → </a:t>
            </a:r>
            <a:r>
              <a:rPr sz="1700">
                <a:solidFill>
                  <a:srgbClr val="222222"/>
                </a:solidFill>
              </a:rPr>
              <a:t>extracts the applicable provisions and checks them against the sources.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Reasoning → </a:t>
            </a:r>
            <a:r>
              <a:rPr sz="1700">
                <a:solidFill>
                  <a:srgbClr val="222222"/>
                </a:solidFill>
              </a:rPr>
              <a:t>applies the law to the facts.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Citation → </a:t>
            </a:r>
            <a:r>
              <a:rPr sz="1700">
                <a:solidFill>
                  <a:srgbClr val="222222"/>
                </a:solidFill>
              </a:rPr>
              <a:t>formats and verifies every article number.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Writing → </a:t>
            </a:r>
            <a:r>
              <a:rPr sz="1700">
                <a:solidFill>
                  <a:srgbClr val="222222"/>
                </a:solidFill>
              </a:rPr>
              <a:t>produces the final memorandum, in the question's language.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E3A5F"/>
                </a:solidFill>
              </a:rPr>
              <a:t>• Trust layer → </a:t>
            </a:r>
            <a:r>
              <a:rPr sz="1700">
                <a:solidFill>
                  <a:srgbClr val="222222"/>
                </a:solidFill>
              </a:rPr>
              <a:t>flags any claim not found in the sources (a 'hallucination rate').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Was Updated This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900">
                <a:solidFill>
                  <a:srgbClr val="1E3A5F"/>
                </a:solidFill>
              </a:rPr>
              <a:t>• Models: </a:t>
            </a:r>
            <a:r>
              <a:rPr sz="1900">
                <a:solidFill>
                  <a:srgbClr val="222222"/>
                </a:solidFill>
              </a:rPr>
              <a:t>standardised on Claude Sonnet 4.5 (+ selector for 4.6 / Opus / Haiku).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1E3A5F"/>
                </a:solidFill>
              </a:rPr>
              <a:t>• Corpus: </a:t>
            </a:r>
            <a:r>
              <a:rPr sz="1900">
                <a:solidFill>
                  <a:srgbClr val="222222"/>
                </a:solidFill>
              </a:rPr>
              <a:t>added the English Penal Code — now bilingual (713 documents).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1E3A5F"/>
                </a:solidFill>
              </a:rPr>
              <a:t>• Trust: </a:t>
            </a:r>
            <a:r>
              <a:rPr sz="1900">
                <a:solidFill>
                  <a:srgbClr val="222222"/>
                </a:solidFill>
              </a:rPr>
              <a:t>grounding + citation verification + hallucination rate.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1E3A5F"/>
                </a:solidFill>
              </a:rPr>
              <a:t>• Retrieval: </a:t>
            </a:r>
            <a:r>
              <a:rPr sz="1900">
                <a:solidFill>
                  <a:srgbClr val="222222"/>
                </a:solidFill>
              </a:rPr>
              <a:t>hybrid search adopted by evidence; harmful re-ranker removed.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1E3A5F"/>
                </a:solidFill>
              </a:rPr>
              <a:t>• Experience: </a:t>
            </a:r>
            <a:r>
              <a:rPr sz="1900">
                <a:solidFill>
                  <a:srgbClr val="222222"/>
                </a:solidFill>
              </a:rPr>
              <a:t>answers in the question's language; Arabic shown right-to-left.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1E3A5F"/>
                </a:solidFill>
              </a:rPr>
              <a:t>• Engineering: </a:t>
            </a:r>
            <a:r>
              <a:rPr sz="1900">
                <a:solidFill>
                  <a:srgbClr val="222222"/>
                </a:solidFill>
              </a:rPr>
              <a:t>reproducible pipeline, tests, CI, and cost/time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Benchmark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Grounded: </a:t>
            </a:r>
            <a:r>
              <a:rPr sz="1800">
                <a:solidFill>
                  <a:srgbClr val="222222"/>
                </a:solidFill>
              </a:rPr>
              <a:t>196 questions generated from the REAL corpus — each with its correct article number(s) as the 'gold answer', validated automatically.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Realistic: </a:t>
            </a:r>
            <a:r>
              <a:rPr sz="1800">
                <a:solidFill>
                  <a:srgbClr val="222222"/>
                </a:solidFill>
              </a:rPr>
              <a:t>Arabic, English, French; 204 distinct articles; general questions + case scenarios.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Objective: </a:t>
            </a:r>
            <a:r>
              <a:rPr sz="1800">
                <a:solidFill>
                  <a:srgbClr val="222222"/>
                </a:solidFill>
              </a:rPr>
              <a:t>an answer is correct if it retrieves the right article number (so it fairly tests cross-lingual search).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Measured: </a:t>
            </a:r>
            <a:r>
              <a:rPr sz="1800">
                <a:solidFill>
                  <a:srgbClr val="222222"/>
                </a:solidFill>
              </a:rPr>
              <a:t>retrieval (hit-rate, recall, ranking), citation accuracy, answer quality (1–5), cost, and statistical confidence.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Why: </a:t>
            </a:r>
            <a:r>
              <a:rPr sz="1800">
                <a:solidFill>
                  <a:srgbClr val="222222"/>
                </a:solidFill>
              </a:rPr>
              <a:t>to turn 'the answers look good' into objective, repeatable, defensible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Results — Accuracy by Language</a:t>
            </a:r>
          </a:p>
        </p:txBody>
      </p:sp>
      <p:pic>
        <p:nvPicPr>
          <p:cNvPr id="4" name="Picture 3" descr="fig_langu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040209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665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Arabic is Lebanon's official legal language — and the corpus is Arabic-primary.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Arabic: </a:t>
            </a:r>
            <a:r>
              <a:rPr sz="1800">
                <a:solidFill>
                  <a:srgbClr val="222222"/>
                </a:solidFill>
              </a:rPr>
              <a:t>72% of correct articles appear in the top 5; 81% in the top 10.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EN / FR: </a:t>
            </a:r>
            <a:r>
              <a:rPr sz="1800">
                <a:solidFill>
                  <a:srgbClr val="222222"/>
                </a:solidFill>
              </a:rPr>
              <a:t>lower (corpus is Arabic-heavy); a cross-lingual fix is already built.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Results — Search Method &amp; Answer Quality</a:t>
            </a:r>
          </a:p>
        </p:txBody>
      </p:sp>
      <p:pic>
        <p:nvPicPr>
          <p:cNvPr id="4" name="Picture 3" descr="fi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104787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Best method: </a:t>
            </a:r>
            <a:r>
              <a:rPr sz="1800">
                <a:solidFill>
                  <a:srgbClr val="222222"/>
                </a:solidFill>
              </a:rPr>
              <a:t>Hybrid (keyword + meaning) finds the correct law most often — the default.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Rejected: </a:t>
            </a:r>
            <a:r>
              <a:rPr sz="1800">
                <a:solidFill>
                  <a:srgbClr val="222222"/>
                </a:solidFill>
              </a:rPr>
              <a:t>a popular English re-ranker made results WORSE here, so it was removed.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Answer quality: </a:t>
            </a:r>
            <a:r>
              <a:rPr sz="1800">
                <a:solidFill>
                  <a:srgbClr val="222222"/>
                </a:solidFill>
              </a:rPr>
              <a:t>final memoranda rated 4.6/5 for correctness, citations, completeness, clarity.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E3A5F"/>
                </a:solidFill>
              </a:rPr>
              <a:t>• Practical: </a:t>
            </a:r>
            <a:r>
              <a:rPr sz="1800">
                <a:solidFill>
                  <a:srgbClr val="222222"/>
                </a:solidFill>
              </a:rPr>
              <a:t>~3 minutes, ~$0.12 per full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Findings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900">
                <a:solidFill>
                  <a:srgbClr val="1E3A5F"/>
                </a:solidFill>
              </a:rPr>
              <a:t>• Findings: </a:t>
            </a:r>
            <a:r>
              <a:rPr sz="1900">
                <a:solidFill>
                  <a:srgbClr val="222222"/>
                </a:solidFill>
              </a:rPr>
              <a:t>Strong on Arabic (72% / 81%); writes high-quality memoranda (4.6/5).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– design choices made by evidence (hybrid in, re-ranker out).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E3A5F"/>
                </a:solidFill>
              </a:rPr>
              <a:t>• Next: </a:t>
            </a:r>
            <a:r>
              <a:rPr sz="1900">
                <a:solidFill>
                  <a:srgbClr val="222222"/>
                </a:solidFill>
              </a:rPr>
              <a:t>Raise English/French retrieval (evaluate the built-in cross-lingual translation).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– Improve citation precision (cite only directly-applicable articles).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– Run the full evaluation for final multi-agent vs. baseline numbers.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– Expand the corpus to contract law and French legal texts.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