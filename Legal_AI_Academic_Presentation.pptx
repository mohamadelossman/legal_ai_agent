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</a:rPr>
              <a:t>A Multi-Agent, Retrieval-Augmented AI System</a:t>
            </a:r>
          </a:p>
          <a:p>
            <a:r>
              <a:rPr sz="3400" b="1" i="0">
                <a:solidFill>
                  <a:srgbClr val="FFFFFF"/>
                </a:solidFill>
              </a:rPr>
              <a:t>for Lebanese Legal Research</a:t>
            </a:r>
          </a:p>
          <a:p>
            <a:pPr>
              <a:spcBef>
                <a:spcPts val="1600"/>
              </a:spcBef>
            </a:pPr>
            <a:r>
              <a:rPr sz="1800" b="0" i="0">
                <a:solidFill>
                  <a:srgbClr val="BFD3E6"/>
                </a:solidFill>
              </a:rPr>
              <a:t>Trilingual (Arabic · English · French) · Grounded · Rigorously Benchmarked</a:t>
            </a:r>
          </a:p>
          <a:p>
            <a:r>
              <a:rPr sz="1400" b="0" i="1">
                <a:solidFill>
                  <a:srgbClr val="BFD3E6"/>
                </a:solidFill>
              </a:rPr>
              <a:t>Thesis Presentation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1. Motivation &amp; Problem</a:t>
            </a:r>
          </a:p>
          <a:p>
            <a:r>
              <a:rPr sz="1300" b="0" i="0">
                <a:solidFill>
                  <a:srgbClr val="BFD3E6"/>
                </a:solidFill>
              </a:rPr>
              <a:t>Why an AI system for Lebanese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Lebanese law is trilingual — </a:t>
            </a:r>
            <a:r>
              <a:rPr sz="1700" b="0" i="0">
                <a:solidFill>
                  <a:srgbClr val="444444"/>
                </a:solidFill>
              </a:rPr>
              <a:t>official language is Arabic, but practice mixes French and English; sources are scattered and hard to search.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Access to justice — </a:t>
            </a:r>
            <a:r>
              <a:rPr sz="1700" b="0" i="0">
                <a:solidFill>
                  <a:srgbClr val="444444"/>
                </a:solidFill>
              </a:rPr>
              <a:t>ordinary citizens cannot easily understand their rights or obligations.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Professional burden — </a:t>
            </a:r>
            <a:r>
              <a:rPr sz="1700" b="0" i="0">
                <a:solidFill>
                  <a:srgbClr val="444444"/>
                </a:solidFill>
              </a:rPr>
              <a:t>lawyers spend hours locating the correct articles and relevant precedents for a case.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Reliability gap — </a:t>
            </a:r>
            <a:r>
              <a:rPr sz="1700" b="0" i="0">
                <a:solidFill>
                  <a:srgbClr val="444444"/>
                </a:solidFill>
              </a:rPr>
              <a:t>generic chatbots invent article numbers and cannot be trusted for legal citation (hallucination).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Goal — </a:t>
            </a:r>
            <a:r>
              <a:rPr sz="1700" b="0" i="0">
                <a:solidFill>
                  <a:srgbClr val="444444"/>
                </a:solidFill>
              </a:rPr>
              <a:t>answer legal questions by RETRIEVING the correct law, then writing a grounded, cited answer whose accuracy can be measured.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2. Research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Multi-agent design: </a:t>
            </a:r>
            <a:r>
              <a:rPr sz="1800" b="0" i="0">
                <a:solidFill>
                  <a:srgbClr val="444444"/>
                </a:solidFill>
              </a:rPr>
              <a:t>can specialised agents (retrieval, analysis, reasoning, writing) outperform a single LLM?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Trilingual retrieval: </a:t>
            </a:r>
            <a:r>
              <a:rPr sz="1800" b="0" i="0">
                <a:solidFill>
                  <a:srgbClr val="444444"/>
                </a:solidFill>
              </a:rPr>
              <a:t>how well can the system find the right law across Arabic / English / French?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Trustworthiness: </a:t>
            </a:r>
            <a:r>
              <a:rPr sz="1800" b="0" i="0">
                <a:solidFill>
                  <a:srgbClr val="444444"/>
                </a:solidFill>
              </a:rPr>
              <a:t>can every legal claim and citation be grounded and verified against the corpus?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Adaptivity: </a:t>
            </a:r>
            <a:r>
              <a:rPr sz="1800" b="0" i="0">
                <a:solidFill>
                  <a:srgbClr val="444444"/>
                </a:solidFill>
              </a:rPr>
              <a:t>can the output adapt to the user — citizen, lawyer, or judge?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Rigorous evaluation: </a:t>
            </a:r>
            <a:r>
              <a:rPr sz="1800" b="0" i="0">
                <a:solidFill>
                  <a:srgbClr val="444444"/>
                </a:solidFill>
              </a:rPr>
              <a:t>build a benchmark that proves accuracy objectively, against a source of truth.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3.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What it does: </a:t>
            </a:r>
            <a:r>
              <a:rPr sz="1800" b="0" i="0">
                <a:solidFill>
                  <a:srgbClr val="444444"/>
                </a:solidFill>
              </a:rPr>
              <a:t>A pipeline of specialised AI agents turns a legal question into a grounded, cited answer.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Approach: </a:t>
            </a:r>
            <a:r>
              <a:rPr sz="1800" b="0" i="0">
                <a:solidFill>
                  <a:srgbClr val="444444"/>
                </a:solidFill>
              </a:rPr>
              <a:t>Retrieval-Augmented Generation (RAG) over the Lebanese Penal Code + court rulings.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Languages: </a:t>
            </a:r>
            <a:r>
              <a:rPr sz="1800" b="0" i="0">
                <a:solidFill>
                  <a:srgbClr val="444444"/>
                </a:solidFill>
              </a:rPr>
              <a:t>Arabic, English, and French; the answer is written in the question's language.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Trust: </a:t>
            </a:r>
            <a:r>
              <a:rPr sz="1800" b="0" i="0">
                <a:solidFill>
                  <a:srgbClr val="444444"/>
                </a:solidFill>
              </a:rPr>
              <a:t>every article the answer relies on is checked against the corpus; a hallucination rate is reported.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Delivered as: </a:t>
            </a:r>
            <a:r>
              <a:rPr sz="1800" b="0" i="0">
                <a:solidFill>
                  <a:srgbClr val="444444"/>
                </a:solidFill>
              </a:rPr>
              <a:t>a Streamlit web app + a rigorous, reproducible benchmark to measure quality.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4. Architecture — The Agent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48840"/>
            <a:ext cx="1516989" cy="132588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83917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Query
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710635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Research
(RAG)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7352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4070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Reasoning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0787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Citation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17505" y="2148840"/>
            <a:ext cx="1516989" cy="1325880"/>
          </a:xfrm>
          <a:prstGeom prst="rect">
            <a:avLst/>
          </a:prstGeom>
          <a:solidFill>
            <a:srgbClr val="B4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1153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Orchestrator → </a:t>
            </a:r>
            <a:r>
              <a:rPr sz="1450" b="0" i="0">
                <a:solidFill>
                  <a:srgbClr val="444444"/>
                </a:solidFill>
              </a:rPr>
              <a:t>classifies the question type AND the user type; routes the whole pipeline.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Query Understanding → </a:t>
            </a:r>
            <a:r>
              <a:rPr sz="1450" b="0" i="0">
                <a:solidFill>
                  <a:srgbClr val="444444"/>
                </a:solidFill>
              </a:rPr>
              <a:t>detects language / domain / facts as validated structured data.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Research → </a:t>
            </a:r>
            <a:r>
              <a:rPr sz="1450" b="0" i="0">
                <a:solidFill>
                  <a:srgbClr val="444444"/>
                </a:solidFill>
              </a:rPr>
              <a:t>retrieves the most relevant articles and rulings (hybrid search).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Analysis → </a:t>
            </a:r>
            <a:r>
              <a:rPr sz="1450" b="0" i="0">
                <a:solidFill>
                  <a:srgbClr val="444444"/>
                </a:solidFill>
              </a:rPr>
              <a:t>extracts applicable provisions, grounded against the retrieved text.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Reasoning → </a:t>
            </a:r>
            <a:r>
              <a:rPr sz="1450" b="0" i="0">
                <a:solidFill>
                  <a:srgbClr val="444444"/>
                </a:solidFill>
              </a:rPr>
              <a:t>applies the law to the facts (chain-of-thought).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Citation · Writing → </a:t>
            </a:r>
            <a:r>
              <a:rPr sz="1450" b="0" i="0">
                <a:solidFill>
                  <a:srgbClr val="444444"/>
                </a:solidFill>
              </a:rPr>
              <a:t>formats + verifies citations, then writes the final answer in the user's shape &amp; language.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5. How the Agents Are Instructed (System Prompts)</a:t>
            </a:r>
          </a:p>
          <a:p>
            <a:r>
              <a:rPr sz="1300" b="0" i="0">
                <a:solidFill>
                  <a:srgbClr val="BFD3E6"/>
                </a:solidFill>
              </a:rPr>
              <a:t>Each agent has a role-specific system prompt that fixes its behaviour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8521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Role-specific: </a:t>
            </a:r>
            <a:r>
              <a:rPr sz="1500" b="0" i="0">
                <a:solidFill>
                  <a:srgbClr val="444444"/>
                </a:solidFill>
              </a:rPr>
              <a:t>each agent gets a dedicated system prompt defining its single job and its rules.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Structured: </a:t>
            </a:r>
            <a:r>
              <a:rPr sz="1500" b="0" i="0">
                <a:solidFill>
                  <a:srgbClr val="444444"/>
                </a:solidFill>
              </a:rPr>
              <a:t>entry agents return VALIDATED structured objects (tool-use), not free text — no fragile parsing.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Anti-hallucination: </a:t>
            </a:r>
            <a:r>
              <a:rPr sz="1500" b="0" i="0">
                <a:solidFill>
                  <a:srgbClr val="444444"/>
                </a:solidFill>
              </a:rPr>
              <a:t>every generative prompt forbids inventing law: 'cite ONLY articles supplied to you'.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Language-locked: </a:t>
            </a:r>
            <a:r>
              <a:rPr sz="1500" b="0" i="0">
                <a:solidFill>
                  <a:srgbClr val="444444"/>
                </a:solidFill>
              </a:rPr>
              <a:t>the writer is told to answer entirely in the query's language, with role-specific sections.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Externalised: </a:t>
            </a:r>
            <a:r>
              <a:rPr sz="1500" b="0" i="0">
                <a:solidFill>
                  <a:srgbClr val="444444"/>
                </a:solidFill>
              </a:rPr>
              <a:t>prompts are stored in files and versioned, so they can be tuned and compared.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280160"/>
            <a:ext cx="5029200" cy="2148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Orchestrator (system prompt)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Read the user input, classify it, return 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routing decision. You never answer directly.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Classify TWO things: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A) query_type: general | case_analysis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B) user_type : citizen | lawyer | judge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3611880"/>
            <a:ext cx="5029200" cy="187451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Writing / Analysis (rules)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Only cite articles supplied to you;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never invent legal references.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Write the ENTIRE memorandum in the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query's language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6. Structured Outputs &amp;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6035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50" b="1" i="0">
                <a:solidFill>
                  <a:srgbClr val="1E3A5F"/>
                </a:solidFill>
              </a:rPr>
              <a:t>• Schema-validated: </a:t>
            </a:r>
            <a:r>
              <a:rPr sz="1550" b="0" i="0">
                <a:solidFill>
                  <a:srgbClr val="444444"/>
                </a:solidFill>
              </a:rPr>
              <a:t>Orchestrator &amp; Query-Understanding emit typed objects via tool-use (Pydantic schema) — the model MUST return valid fields.</a:t>
            </a:r>
          </a:p>
          <a:p>
            <a:pPr>
              <a:spcAft>
                <a:spcPts val="900"/>
              </a:spcAft>
            </a:pPr>
            <a:r>
              <a:rPr sz="1550" b="1" i="0">
                <a:solidFill>
                  <a:srgbClr val="1E3A5F"/>
                </a:solidFill>
              </a:rPr>
              <a:t>• Grounding check: </a:t>
            </a:r>
            <a:r>
              <a:rPr sz="1550" b="0" i="0">
                <a:solidFill>
                  <a:srgbClr val="444444"/>
                </a:solidFill>
              </a:rPr>
              <a:t>the Analysis agent tags each extracted provision as grounded / ungrounded by matching its article number to the retrieved text.</a:t>
            </a:r>
          </a:p>
          <a:p>
            <a:pPr>
              <a:spcAft>
                <a:spcPts val="900"/>
              </a:spcAft>
            </a:pPr>
            <a:r>
              <a:rPr sz="1550" b="1" i="0">
                <a:solidFill>
                  <a:srgbClr val="1E3A5F"/>
                </a:solidFill>
              </a:rPr>
              <a:t>• Citation filter: </a:t>
            </a:r>
            <a:r>
              <a:rPr sz="1550" b="0" i="0">
                <a:solidFill>
                  <a:srgbClr val="444444"/>
                </a:solidFill>
              </a:rPr>
              <a:t>the Citation agent verifies each article against a master corpus index and drops loosely-related neighbours.</a:t>
            </a:r>
          </a:p>
          <a:p>
            <a:pPr>
              <a:spcAft>
                <a:spcPts val="900"/>
              </a:spcAft>
            </a:pPr>
            <a:r>
              <a:rPr sz="1550" b="1" i="0">
                <a:solidFill>
                  <a:srgbClr val="1E3A5F"/>
                </a:solidFill>
              </a:rPr>
              <a:t>• Closed set: </a:t>
            </a:r>
            <a:r>
              <a:rPr sz="1550" b="0" i="0">
                <a:solidFill>
                  <a:srgbClr val="444444"/>
                </a:solidFill>
              </a:rPr>
              <a:t>the Writer receives a CLOSED set — it may cite only those verified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371600"/>
            <a:ext cx="4846320" cy="18288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Routing schema (tool-use)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class RoutingDecision: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query_type: str   # general | case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user_type : str   # citizen|lawyer|judge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detected_language, legal_domain,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extracted_facts[], pipeline_config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3383280"/>
            <a:ext cx="4846320" cy="1554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Closed-set constraint (writer)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CITATION CONSTRAINT: You may cite ONLY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these article numbers: 547, 549.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Do NOT mention any other article.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7. Adaptive Output — Who Is Asking?</a:t>
            </a:r>
          </a:p>
          <a:p>
            <a:r>
              <a:rPr sz="1300" b="0" i="0">
                <a:solidFill>
                  <a:srgbClr val="BFD3E6"/>
                </a:solidFill>
              </a:rPr>
              <a:t>The Orchestrator detects the user type and shapes the answer accordingly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800" b="1" i="0">
                <a:solidFill>
                  <a:srgbClr val="1E3A5F"/>
                </a:solidFill>
              </a:rPr>
              <a:t>• 👤 Citizen (general question) </a:t>
            </a:r>
            <a:r>
              <a:rPr sz="1800" b="0" i="0">
                <a:solidFill>
                  <a:srgbClr val="444444"/>
                </a:solidFill>
              </a:rPr>
              <a:t>→ a plain, jargon-free answer to their question.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1E3A5F"/>
                </a:solidFill>
              </a:rPr>
              <a:t>• ⚖️ Lawyer </a:t>
            </a:r>
            <a:r>
              <a:rPr sz="1800" b="0" i="0">
                <a:solidFill>
                  <a:srgbClr val="444444"/>
                </a:solidFill>
              </a:rPr>
              <a:t>→ a structured advisory memorandum (defence-oriented) for a client's case.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1E3A5F"/>
                </a:solidFill>
              </a:rPr>
              <a:t>• 👨‍⚖️ Judge (gives facts, wants ruling) </a:t>
            </a:r>
            <a:r>
              <a:rPr sz="1800" b="0" i="0">
                <a:solidFill>
                  <a:srgbClr val="444444"/>
                </a:solidFill>
              </a:rPr>
              <a:t>→ a formal judicial DECISION: facts → applicable law → reasoning → verdict.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444444"/>
                </a:solidFill>
              </a:rPr>
              <a:t>• The user can select the role, or the Orchestrator infers it from the phrasing (e.g. 'my client' → lawyer).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8. Corpus &amp; 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Bilingual corpus: </a:t>
            </a:r>
            <a:r>
              <a:rPr sz="1700" b="0" i="0">
                <a:solidFill>
                  <a:srgbClr val="444444"/>
                </a:solidFill>
              </a:rPr>
              <a:t>Lebanese Penal Code — 417 Arabic + 242 English articles + 54 Court of Cassation rulings = 713 indexed documents.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Ingestion: </a:t>
            </a:r>
            <a:r>
              <a:rPr sz="1700" b="0" i="0">
                <a:solidFill>
                  <a:srgbClr val="444444"/>
                </a:solidFill>
              </a:rPr>
              <a:t>a reproducible pipeline reads the sources, embeds them, and records exactly what was indexed.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Extensible: </a:t>
            </a:r>
            <a:r>
              <a:rPr sz="1700" b="0" i="0">
                <a:solidFill>
                  <a:srgbClr val="444444"/>
                </a:solidFill>
              </a:rPr>
              <a:t>new sources (contract law, French texts) are auto-indexed by the same pipeline.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Provenance: </a:t>
            </a:r>
            <a:r>
              <a:rPr sz="1700" b="0" i="0">
                <a:solidFill>
                  <a:srgbClr val="444444"/>
                </a:solidFill>
              </a:rPr>
              <a:t>every article keeps a validated number — later used as the 'gold answer' in the benchmark.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9. Retrieval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Method: </a:t>
            </a:r>
            <a:r>
              <a:rPr sz="1700" b="0" i="0">
                <a:solidFill>
                  <a:srgbClr val="444444"/>
                </a:solidFill>
              </a:rPr>
              <a:t>Hybrid search = keyword (BM25) + meaning (dense embeddings) — chosen by benchmark evidence.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Embeddings: </a:t>
            </a:r>
            <a:r>
              <a:rPr sz="1700" b="0" i="0">
                <a:solidFill>
                  <a:srgbClr val="444444"/>
                </a:solidFill>
              </a:rPr>
              <a:t>multilingual sentence-transformer (mpnet), running locally and free.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Cross-lingual: </a:t>
            </a:r>
            <a:r>
              <a:rPr sz="1700" b="0" i="0">
                <a:solidFill>
                  <a:srgbClr val="444444"/>
                </a:solidFill>
              </a:rPr>
              <a:t>articles and rulings are searched in separate pools; the article number makes matches language-agnostic.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Evidence over intuition: </a:t>
            </a:r>
            <a:r>
              <a:rPr sz="1700" b="0" i="0">
                <a:solidFill>
                  <a:srgbClr val="444444"/>
                </a:solidFill>
              </a:rPr>
              <a:t>a popular English re-ranker was TESTED and REJECTED — it hurt this Arabic/legal corpus.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10. Trust &amp; Anti-Hallucination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Grounding: </a:t>
            </a:r>
            <a:r>
              <a:rPr sz="1700" b="0" i="0">
                <a:solidFill>
                  <a:srgbClr val="444444"/>
                </a:solidFill>
              </a:rPr>
              <a:t>each provision is checked against the retrieved text; ungrounded ones are flagged.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Citation verification: </a:t>
            </a:r>
            <a:r>
              <a:rPr sz="1700" b="0" i="0">
                <a:solidFill>
                  <a:srgbClr val="444444"/>
                </a:solidFill>
              </a:rPr>
              <a:t>every cited article number is verified against the corpus index (no invented citations).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Closed citation set: </a:t>
            </a:r>
            <a:r>
              <a:rPr sz="1700" b="0" i="0">
                <a:solidFill>
                  <a:srgbClr val="444444"/>
                </a:solidFill>
              </a:rPr>
              <a:t>the memo may cite ONLY verified articles it was given (precision-first).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Trust metric: </a:t>
            </a:r>
            <a:r>
              <a:rPr sz="1700" b="0" i="0">
                <a:solidFill>
                  <a:srgbClr val="444444"/>
                </a:solidFill>
              </a:rPr>
              <a:t>each answer reports a hallucination rate and a grounding rate.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11. The Web Application (UI)</a:t>
            </a:r>
          </a:p>
          <a:p>
            <a:r>
              <a:rPr sz="1300" b="0" i="0">
                <a:solidFill>
                  <a:srgbClr val="BFD3E6"/>
                </a:solidFill>
              </a:rPr>
              <a:t>Built with Streamlit — three working areas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1E3A5F"/>
                </a:solidFill>
              </a:rPr>
              <a:t>• 🔗 End-to-End Pipeline: </a:t>
            </a:r>
            <a:r>
              <a:rPr sz="1700" b="0" i="0">
                <a:solidFill>
                  <a:srgbClr val="444444"/>
                </a:solidFill>
              </a:rPr>
              <a:t>ask a question, pick your role, run all 7 agents; see the memo, sources, trust indicators, tokens/cost.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1E3A5F"/>
                </a:solidFill>
              </a:rPr>
              <a:t>• 🔬 Individual Agents: </a:t>
            </a:r>
            <a:r>
              <a:rPr sz="1700" b="0" i="0">
                <a:solidFill>
                  <a:srgbClr val="444444"/>
                </a:solidFill>
              </a:rPr>
              <a:t>run and inspect each agent in isolation (inputs, outputs, retrieved chunks) for debugging.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1E3A5F"/>
                </a:solidFill>
              </a:rPr>
              <a:t>• 📊 Benchmarking: </a:t>
            </a:r>
            <a:r>
              <a:rPr sz="1700" b="0" i="0">
                <a:solidFill>
                  <a:srgbClr val="444444"/>
                </a:solidFill>
              </a:rPr>
              <a:t>generate test questions, enter reference answers, and score the system against a source of truth.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1E3A5F"/>
                </a:solidFill>
              </a:rPr>
              <a:t>• Design principle: </a:t>
            </a:r>
            <a:r>
              <a:rPr sz="1600" b="0" i="0">
                <a:solidFill>
                  <a:srgbClr val="444444"/>
                </a:solidFill>
              </a:rPr>
              <a:t>step-by-step transparency — every agent's output, timing, and cost are shown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11. UI — Pipeline View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Role selector: </a:t>
            </a:r>
            <a:r>
              <a:rPr sz="1650" b="0" i="0">
                <a:solidFill>
                  <a:srgbClr val="444444"/>
                </a:solidFill>
              </a:rPr>
              <a:t>Citizen / Lawyer / Judge / Auto-detect — changes the output shape.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Per-agent panels: </a:t>
            </a:r>
            <a:r>
              <a:rPr sz="1650" b="0" i="0">
                <a:solidFill>
                  <a:srgbClr val="444444"/>
                </a:solidFill>
              </a:rPr>
              <a:t>each of the 7 steps shows a ✅, its time, and its output (expandable).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Grounding &amp; citations: </a:t>
            </a:r>
            <a:r>
              <a:rPr sz="1650" b="0" i="0">
                <a:solidFill>
                  <a:srgbClr val="444444"/>
                </a:solidFill>
              </a:rPr>
              <a:t>provisions marked grounded/ungrounded; citations shown ✓ verified / ⚠ unverified.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Memorandum: </a:t>
            </a:r>
            <a:r>
              <a:rPr sz="1650" b="0" i="0">
                <a:solidFill>
                  <a:srgbClr val="444444"/>
                </a:solidFill>
              </a:rPr>
              <a:t>rendered as a clean document — right-to-left for Arabic, in the query's language.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Cost &amp; trust summary: </a:t>
            </a:r>
            <a:r>
              <a:rPr sz="1650" b="0" i="0">
                <a:solidFill>
                  <a:srgbClr val="444444"/>
                </a:solidFill>
              </a:rPr>
              <a:t>tokens, USD cost, latency, grounding rate, and hallucination rate per run.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Download: </a:t>
            </a:r>
            <a:r>
              <a:rPr sz="1650" b="0" i="0">
                <a:solidFill>
                  <a:srgbClr val="444444"/>
                </a:solidFill>
              </a:rPr>
              <a:t>full results (JSON) and the memorandum are downloadable.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651760"/>
            <a:ext cx="146304" cy="137160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5146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BFD3E6"/>
                </a:solidFill>
              </a:rPr>
              <a:t>Part II</a:t>
            </a:r>
          </a:p>
          <a:p>
            <a:r>
              <a:rPr sz="3400" b="1" i="0">
                <a:solidFill>
                  <a:srgbClr val="FFFFFF"/>
                </a:solidFill>
              </a:rPr>
              <a:t>Benchmarking</a:t>
            </a:r>
          </a:p>
          <a:p>
            <a:r>
              <a:rPr sz="1500" b="0" i="1">
                <a:solidFill>
                  <a:srgbClr val="BFD3E6"/>
                </a:solidFill>
              </a:rPr>
              <a:t>The core scientific contribution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12. Benchmark — 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Motivation: </a:t>
            </a:r>
            <a:r>
              <a:rPr sz="1750" b="0" i="0">
                <a:solidFill>
                  <a:srgbClr val="444444"/>
                </a:solidFill>
              </a:rPr>
              <a:t>a legal AI is only credible if its accuracy can be MEASURED, not just claimed.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Compare: </a:t>
            </a:r>
            <a:r>
              <a:rPr sz="1750" b="0" i="0">
                <a:solidFill>
                  <a:srgbClr val="444444"/>
                </a:solidFill>
              </a:rPr>
              <a:t>prove whether the multi-agent design beats a single-LLM baseline.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Quantify: </a:t>
            </a:r>
            <a:r>
              <a:rPr sz="1750" b="0" i="0">
                <a:solidFill>
                  <a:srgbClr val="444444"/>
                </a:solidFill>
              </a:rPr>
              <a:t>quantify how often the system finds the right law and cites the right articles.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Rigour: </a:t>
            </a:r>
            <a:r>
              <a:rPr sz="1750" b="0" i="0">
                <a:solidFill>
                  <a:srgbClr val="444444"/>
                </a:solidFill>
              </a:rPr>
              <a:t>turn subjective impressions into objective, repeatable, defensible numbers.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Guide design: </a:t>
            </a:r>
            <a:r>
              <a:rPr sz="1750" b="0" i="0">
                <a:solidFill>
                  <a:srgbClr val="444444"/>
                </a:solidFill>
              </a:rPr>
              <a:t>test every design decision (search method, embedding, re-ranker) with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13. Generating Benchmark Questions</a:t>
            </a:r>
          </a:p>
          <a:p>
            <a:r>
              <a:rPr sz="1300" b="0" i="0">
                <a:solidFill>
                  <a:srgbClr val="BFD3E6"/>
                </a:solidFill>
              </a:rPr>
              <a:t>A dedicated generation agent builds grounded questions from the real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61264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1 — </a:t>
            </a:r>
            <a:r>
              <a:rPr sz="1500" b="0" i="0">
                <a:solidFill>
                  <a:srgbClr val="444444"/>
                </a:solidFill>
              </a:rPr>
              <a:t>sample real Penal-Code articles (and rulings) from the corpus.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2 — </a:t>
            </a:r>
            <a:r>
              <a:rPr sz="1500" b="0" i="0">
                <a:solidFill>
                  <a:srgbClr val="444444"/>
                </a:solidFill>
              </a:rPr>
              <a:t>the LLM writes realistic questions answerable from THOSE articles, in a target language.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3 — </a:t>
            </a:r>
            <a:r>
              <a:rPr sz="1500" b="0" i="0">
                <a:solidFill>
                  <a:srgbClr val="444444"/>
                </a:solidFill>
              </a:rPr>
              <a:t>it returns each question WITH the article numbers it is based on (the gold answer).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4 — </a:t>
            </a:r>
            <a:r>
              <a:rPr sz="1500" b="0" i="0">
                <a:solidFill>
                  <a:srgbClr val="444444"/>
                </a:solidFill>
              </a:rPr>
              <a:t>gold numbers are validated against the corpus index; invalid ones are dropped.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5 — </a:t>
            </a:r>
            <a:r>
              <a:rPr sz="1500" b="0" i="0">
                <a:solidFill>
                  <a:srgbClr val="444444"/>
                </a:solidFill>
              </a:rPr>
              <a:t>batched (~10 questions / call) for efficiency; deduped; mixes general + case questions.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Result: </a:t>
            </a:r>
            <a:r>
              <a:rPr sz="1500" b="0" i="0">
                <a:solidFill>
                  <a:srgbClr val="1E3A5F"/>
                </a:solidFill>
              </a:rPr>
              <a:t>questions are grounded in real law, so each has a known, checkable correct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371600"/>
            <a:ext cx="4800600" cy="3108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Generation prompt (excerpt)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From these Lebanese Penal Code articles: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- Article 549: ...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- Article 547: ...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Generate N diverse questions in {language}.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Set gold_articles to those article numbers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(choose only from: 547, 548, 549).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Mix general questions and case scenarios.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14. Benchmark — What Is Measured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669280"/>
                <a:gridCol w="3200400"/>
              </a:tblGrid>
              <a:tr h="705394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Metrics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Question it answers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Precision@k, Recall@k, MRR, nDCG, hit-rate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Does it find the correct article?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Citations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Precision, Recall, F1 vs. gold articles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Does the answer cite the right articles?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Answer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LLM-as-judge 1–5 (correctness, citations, completeness, clarity)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Is the final answer sound &amp; well written?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Reference-based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Judge compares answer vs. a human source-of-truth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Does it match the expert answer?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Latency, tokens, cost per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Is it practical to run?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Statistics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Mean ± 95% CI, paired significance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Are differences real, not chance?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15. The Evaluator Agent — Judging Against the Source of Truth</a:t>
            </a:r>
          </a:p>
          <a:p>
            <a:r>
              <a:rPr sz="1300" b="0" i="0">
                <a:solidFill>
                  <a:srgbClr val="BFD3E6"/>
                </a:solidFill>
              </a:rPr>
              <a:t>An independent LLM judge scores each answer relative to the user's ground-truth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61264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What it is: </a:t>
            </a:r>
            <a:r>
              <a:rPr sz="1500" b="0" i="0">
                <a:solidFill>
                  <a:srgbClr val="444444"/>
                </a:solidFill>
              </a:rPr>
              <a:t>a second, independent LLM (Claude, temperature 0), separate from the answering agents.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Depends on the reference: </a:t>
            </a:r>
            <a:r>
              <a:rPr sz="1500" b="0" i="0">
                <a:solidFill>
                  <a:srgbClr val="444444"/>
                </a:solidFill>
              </a:rPr>
              <a:t>the user provides the correct expert answer per question — the SOURCE OF TRUTH.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How it scores: </a:t>
            </a:r>
            <a:r>
              <a:rPr sz="1500" b="0" i="0">
                <a:solidFill>
                  <a:srgbClr val="444444"/>
                </a:solidFill>
              </a:rPr>
              <a:t>the judge compares the AI answer AGAINST that reference — it does NOT score on its own opinion.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Rubric: </a:t>
            </a:r>
            <a:r>
              <a:rPr sz="1500" b="0" i="0">
                <a:solidFill>
                  <a:srgbClr val="444444"/>
                </a:solidFill>
              </a:rPr>
              <a:t>4 dimensions 1–5 (legal correctness, citation quality, completeness, clarity), judged vs. the reference.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Why it matters: </a:t>
            </a:r>
            <a:r>
              <a:rPr sz="1500" b="0" i="0">
                <a:solidFill>
                  <a:srgbClr val="444444"/>
                </a:solidFill>
              </a:rPr>
              <a:t>grounds evaluation in human expertise → objective &amp; reproducible; REQUIRED for a judged 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280160"/>
            <a:ext cx="4800600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Judge prompt (reference-based)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You are a Lebanese legal evaluation expert.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Compare the AI answer against the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REFERENCE (ground-truth) answer.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REFERENCE answer: "..."  (from the user)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AI answer: "..."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Score 1-5, judged AGAINST the reference: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legal_correctness, citation_quality,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completeness, clarity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Return ONLY JSON.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16. Benchmark — The Workflow in the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1 · Generate: </a:t>
            </a:r>
            <a:r>
              <a:rPr sz="1650" b="0" i="0">
                <a:solidFill>
                  <a:srgbClr val="444444"/>
                </a:solidFill>
              </a:rPr>
              <a:t>set the number of questions; the generator produces grounded questions, shown 10 per page.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2 · Reference: </a:t>
            </a:r>
            <a:r>
              <a:rPr sz="1650" b="0" i="0">
                <a:solidFill>
                  <a:srgbClr val="444444"/>
                </a:solidFill>
              </a:rPr>
              <a:t>review them, then type the source-of-truth answer in the editable table (required).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3 · Select: </a:t>
            </a:r>
            <a:r>
              <a:rPr sz="1650" b="0" i="0">
                <a:solidFill>
                  <a:srgbClr val="444444"/>
                </a:solidFill>
              </a:rPr>
              <a:t>choose systems — Multi-Agent vs Single-Agent vs No-RAG.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4 · Run: </a:t>
            </a:r>
            <a:r>
              <a:rPr sz="1650" b="0" i="0">
                <a:solidFill>
                  <a:srgbClr val="444444"/>
                </a:solidFill>
              </a:rPr>
              <a:t>each system answers; the judge scores every answer against the reference.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5 · Results: </a:t>
            </a:r>
            <a:r>
              <a:rPr sz="1650" b="0" i="0">
                <a:solidFill>
                  <a:srgbClr val="444444"/>
                </a:solidFill>
              </a:rPr>
              <a:t>per-system scores, per-dimension table, charts, citation metrics, and downloadable JSON.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17. Results — Accuracy by Language</a:t>
            </a:r>
          </a:p>
        </p:txBody>
      </p:sp>
      <p:pic>
        <p:nvPicPr>
          <p:cNvPr id="4" name="Picture 3" descr="fig_langu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040209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Arabic (primary legal language): </a:t>
            </a:r>
            <a:r>
              <a:rPr sz="1700" b="0" i="0">
                <a:solidFill>
                  <a:srgbClr val="444444"/>
                </a:solidFill>
              </a:rPr>
              <a:t>72% of correct articles in the top 5, 81% in the top 10.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English / French: </a:t>
            </a:r>
            <a:r>
              <a:rPr sz="1700" b="0" i="0">
                <a:solidFill>
                  <a:srgbClr val="444444"/>
                </a:solidFill>
              </a:rPr>
              <a:t>lower — the corpus is Arabic-primary; closing this is the main next step.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Note: </a:t>
            </a:r>
            <a:r>
              <a:rPr sz="1500" b="0" i="0">
                <a:solidFill>
                  <a:srgbClr val="444444"/>
                </a:solidFill>
              </a:rPr>
              <a:t>the article-number metric fairly credits cross-lingual matches.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18. Results — Search Method &amp; Answer Quality</a:t>
            </a:r>
          </a:p>
        </p:txBody>
      </p:sp>
      <p:pic>
        <p:nvPicPr>
          <p:cNvPr id="4" name="Picture 3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0478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Best method: </a:t>
            </a:r>
            <a:r>
              <a:rPr sz="1700" b="0" i="0">
                <a:solidFill>
                  <a:srgbClr val="444444"/>
                </a:solidFill>
              </a:rPr>
              <a:t>hybrid (keyword + meaning) finds the correct law most often — chosen default.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Rejected by data: </a:t>
            </a:r>
            <a:r>
              <a:rPr sz="1700" b="0" i="0">
                <a:solidFill>
                  <a:srgbClr val="444444"/>
                </a:solidFill>
              </a:rPr>
              <a:t>a popular English re-ranker made results worse and was removed.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Answer quality: </a:t>
            </a:r>
            <a:r>
              <a:rPr sz="1700" b="0" i="0">
                <a:solidFill>
                  <a:srgbClr val="444444"/>
                </a:solidFill>
              </a:rPr>
              <a:t>final memoranda rated ~4.6/5 for legal quality by the judge.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Practical: </a:t>
            </a:r>
            <a:r>
              <a:rPr sz="1700" b="0" i="0">
                <a:solidFill>
                  <a:srgbClr val="444444"/>
                </a:solidFill>
              </a:rPr>
              <a:t>~2–3 minutes, ~$0.12 per full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19. 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Multi-agent works: </a:t>
            </a:r>
            <a:r>
              <a:rPr sz="1700" b="0" i="0">
                <a:solidFill>
                  <a:srgbClr val="444444"/>
                </a:solidFill>
              </a:rPr>
              <a:t>specialised agents produce grounded, well-structured answers (~4.6/5).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Evidence-based engineering: </a:t>
            </a:r>
            <a:r>
              <a:rPr sz="1700" b="0" i="0">
                <a:solidFill>
                  <a:srgbClr val="444444"/>
                </a:solidFill>
              </a:rPr>
              <a:t>hybrid &gt; semantic; the re-ranker hurts; the embedding is validated — all decided by the benchmark.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Bottleneck identified: </a:t>
            </a:r>
            <a:r>
              <a:rPr sz="1700" b="0" i="0">
                <a:solidFill>
                  <a:srgbClr val="444444"/>
                </a:solidFill>
              </a:rPr>
              <a:t>answer quality is bounded by retrieval recall — if the article isn't found, it can't be cited.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Precision fix, measured: </a:t>
            </a:r>
            <a:r>
              <a:rPr sz="1700" b="0" i="0">
                <a:solidFill>
                  <a:srgbClr val="444444"/>
                </a:solidFill>
              </a:rPr>
              <a:t>tightening citations raised citation-F1 ~3× (0.04 → 0.13) on the same questions.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20. Engineering &amp;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Standardised model: </a:t>
            </a:r>
            <a:r>
              <a:rPr sz="1650" b="0" i="0">
                <a:solidFill>
                  <a:srgbClr val="444444"/>
                </a:solidFill>
              </a:rPr>
              <a:t>Claude Sonnet 4.5 (selectable: 4.6 / Opus / Haiku).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Headless pipeline: </a:t>
            </a:r>
            <a:r>
              <a:rPr sz="1650" b="0" i="0">
                <a:solidFill>
                  <a:srgbClr val="444444"/>
                </a:solidFill>
              </a:rPr>
              <a:t>the full system runs without the UI for batch evaluation.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Tests + CI: </a:t>
            </a:r>
            <a:r>
              <a:rPr sz="1650" b="0" i="0">
                <a:solidFill>
                  <a:srgbClr val="444444"/>
                </a:solidFill>
              </a:rPr>
              <a:t>unit tests and GitHub Actions run automatically on every change.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Telemetry: </a:t>
            </a:r>
            <a:r>
              <a:rPr sz="1650" b="0" i="0">
                <a:solidFill>
                  <a:srgbClr val="444444"/>
                </a:solidFill>
              </a:rPr>
              <a:t>tokens, cost, and latency tracked per agent.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Reproducible: </a:t>
            </a:r>
            <a:r>
              <a:rPr sz="1650" b="0" i="0">
                <a:solidFill>
                  <a:srgbClr val="444444"/>
                </a:solidFill>
              </a:rPr>
              <a:t>one command rebuilds the index; the benchmark is regenerable.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Version-controlled: </a:t>
            </a:r>
            <a:r>
              <a:rPr sz="1650" b="0" i="0">
                <a:solidFill>
                  <a:srgbClr val="444444"/>
                </a:solidFill>
              </a:rPr>
              <a:t>all work committed and pushed to GitHub.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21.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Limitation: </a:t>
            </a:r>
            <a:r>
              <a:rPr sz="1700" b="0" i="0">
                <a:solidFill>
                  <a:srgbClr val="444444"/>
                </a:solidFill>
              </a:rPr>
              <a:t>English/French retrieval lags Arabic (~40% vs 72%).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Scope: </a:t>
            </a:r>
            <a:r>
              <a:rPr sz="1700" b="0" i="0">
                <a:solidFill>
                  <a:srgbClr val="444444"/>
                </a:solidFill>
              </a:rPr>
              <a:t>corpus is criminal (Penal) law only; single-article gold is strict for multi-article questions.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Next — retrieval: </a:t>
            </a:r>
            <a:r>
              <a:rPr sz="1700" b="0" i="0">
                <a:solidFill>
                  <a:srgbClr val="444444"/>
                </a:solidFill>
              </a:rPr>
              <a:t>evaluate the built-in cross-lingual translation; test stronger multilingual embeddings.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Next — corpus &amp; rigor: </a:t>
            </a:r>
            <a:r>
              <a:rPr sz="1700" b="0" i="0">
                <a:solidFill>
                  <a:srgbClr val="444444"/>
                </a:solidFill>
              </a:rPr>
              <a:t>add contract law + French texts (pipeline supports it); collect expert reference answers at scale.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Next — agents &amp; eval: </a:t>
            </a:r>
            <a:r>
              <a:rPr sz="1700" b="0" i="0">
                <a:solidFill>
                  <a:srgbClr val="444444"/>
                </a:solidFill>
              </a:rPr>
              <a:t>structured reasoning, a verifier agent, and a full statistical comparison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</a:rPr>
              <a:t>22. Conclusion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A working trilingual legal AI </a:t>
            </a:r>
            <a:r>
              <a:rPr sz="1700" b="0" i="0">
                <a:solidFill>
                  <a:srgbClr val="FFFFFF"/>
                </a:solidFill>
              </a:rPr>
              <a:t>for Lebanese law: grounded, cited, adaptive to the user.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A rigorous benchmark </a:t>
            </a:r>
            <a:r>
              <a:rPr sz="1700" b="0" i="0">
                <a:solidFill>
                  <a:srgbClr val="FFFFFF"/>
                </a:solidFill>
              </a:rPr>
              <a:t>of grounded questions with validated gold answers and multi-metric scoring.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Reference-based evaluation </a:t>
            </a:r>
            <a:r>
              <a:rPr sz="1700" b="0" i="0">
                <a:solidFill>
                  <a:srgbClr val="FFFFFF"/>
                </a:solidFill>
              </a:rPr>
              <a:t>— answers judged against a human source of truth, not the judge's opinion.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Evidence-based design </a:t>
            </a:r>
            <a:r>
              <a:rPr sz="1700" b="0" i="0">
                <a:solidFill>
                  <a:srgbClr val="FFFFFF"/>
                </a:solidFill>
              </a:rPr>
              <a:t>— every retrieval choice proven (or rejected) by measurement.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Trust by construction </a:t>
            </a:r>
            <a:r>
              <a:rPr sz="1700" b="0" i="0">
                <a:solidFill>
                  <a:srgbClr val="FFFFFF"/>
                </a:solidFill>
              </a:rPr>
              <a:t>— grounding, citation verification, and a reported hallucination rate.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Reproducible &amp; engineered </a:t>
            </a:r>
            <a:r>
              <a:rPr sz="1700" b="0" i="0">
                <a:solidFill>
                  <a:srgbClr val="FFFFFF"/>
                </a:solidFill>
              </a:rPr>
              <a:t>— tests, CI, telemetry, and a usable web application.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