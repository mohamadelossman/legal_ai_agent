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73152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</a:rPr>
              <a:t>A Multi-Agent, Retrieval-Augmented AI System</a:t>
            </a:r>
          </a:p>
          <a:p>
            <a:r>
              <a:rPr sz="3400" b="1" i="0">
                <a:solidFill>
                  <a:srgbClr val="FFFFFF"/>
                </a:solidFill>
              </a:rPr>
              <a:t>for Lebanese Legal Research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BFD3E6"/>
                </a:solidFill>
              </a:rPr>
              <a:t>Trilingual (Arabic · English · French) · Grounded · Benchmarked</a:t>
            </a:r>
          </a:p>
          <a:p>
            <a:r>
              <a:rPr sz="1400" b="0" i="1">
                <a:solidFill>
                  <a:srgbClr val="BFD3E6"/>
                </a:solidFill>
              </a:rPr>
              <a:t>Thesis Presentation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1. Motivation &amp; Problem</a:t>
            </a:r>
          </a:p>
          <a:p>
            <a:r>
              <a:rPr sz="1300" b="0" i="0">
                <a:solidFill>
                  <a:srgbClr val="BFD3E6"/>
                </a:solidFill>
              </a:rPr>
              <a:t>Why an AI system for Lebanese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Lebanese law is trilingual — </a:t>
            </a:r>
            <a:r>
              <a:rPr sz="1700" b="0" i="0">
                <a:solidFill>
                  <a:srgbClr val="444444"/>
                </a:solidFill>
              </a:rPr>
              <a:t>official language is Arabic, but practice mixes French and English; sources are scattered and hard to search.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Access to justice — </a:t>
            </a:r>
            <a:r>
              <a:rPr sz="1700" b="0" i="0">
                <a:solidFill>
                  <a:srgbClr val="444444"/>
                </a:solidFill>
              </a:rPr>
              <a:t>citizens struggle to understand their rights; lawyers spend hours locating the right articles and precedents.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Reliability gap — </a:t>
            </a:r>
            <a:r>
              <a:rPr sz="1700" b="0" i="0">
                <a:solidFill>
                  <a:srgbClr val="444444"/>
                </a:solidFill>
              </a:rPr>
              <a:t>generic chatbots invent article numbers and cannot be trusted for legal citations (hallucination).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Goal — </a:t>
            </a:r>
            <a:r>
              <a:rPr sz="1700" b="0" i="0">
                <a:solidFill>
                  <a:srgbClr val="444444"/>
                </a:solidFill>
              </a:rPr>
              <a:t>answer legal questions by RETRIEVING the correct law, then writing a grounded, cited answer whose accuracy can be 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2. 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1E3A5F"/>
                </a:solidFill>
              </a:rPr>
              <a:t>• Multi-agent design: </a:t>
            </a:r>
            <a:r>
              <a:rPr sz="1800" b="0" i="0">
                <a:solidFill>
                  <a:srgbClr val="444444"/>
                </a:solidFill>
              </a:rPr>
              <a:t>can specialised agents (retrieval, analysis, reasoning, writing) outperform a single LLM?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E3A5F"/>
                </a:solidFill>
              </a:rPr>
              <a:t>• Trilingual retrieval: </a:t>
            </a:r>
            <a:r>
              <a:rPr sz="1800" b="0" i="0">
                <a:solidFill>
                  <a:srgbClr val="444444"/>
                </a:solidFill>
              </a:rPr>
              <a:t>how well can the system find the right law across Arabic / English / French?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E3A5F"/>
                </a:solidFill>
              </a:rPr>
              <a:t>• Trustworthiness: </a:t>
            </a:r>
            <a:r>
              <a:rPr sz="1800" b="0" i="0">
                <a:solidFill>
                  <a:srgbClr val="444444"/>
                </a:solidFill>
              </a:rPr>
              <a:t>can every legal claim and citation be grounded and verified against the corpus?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E3A5F"/>
                </a:solidFill>
              </a:rPr>
              <a:t>• Adaptivity: </a:t>
            </a:r>
            <a:r>
              <a:rPr sz="1800" b="0" i="0">
                <a:solidFill>
                  <a:srgbClr val="444444"/>
                </a:solidFill>
              </a:rPr>
              <a:t>can the output adapt to the user (citizen, lawyer, judge)?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E3A5F"/>
                </a:solidFill>
              </a:rPr>
              <a:t>• Rigorous evaluation: </a:t>
            </a:r>
            <a:r>
              <a:rPr sz="1800" b="0" i="0">
                <a:solidFill>
                  <a:srgbClr val="444444"/>
                </a:solidFill>
              </a:rPr>
              <a:t>build a benchmark that proves accuracy objectively, not anecdotally.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3.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1E3A5F"/>
                </a:solidFill>
              </a:rPr>
              <a:t>• What it does: </a:t>
            </a:r>
            <a:r>
              <a:rPr sz="1800" b="0" i="0">
                <a:solidFill>
                  <a:srgbClr val="444444"/>
                </a:solidFill>
              </a:rPr>
              <a:t>A pipeline of specialised AI agents turns a legal question into a grounded, cited answer.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1E3A5F"/>
                </a:solidFill>
              </a:rPr>
              <a:t>• Approach: </a:t>
            </a:r>
            <a:r>
              <a:rPr sz="1800" b="0" i="0">
                <a:solidFill>
                  <a:srgbClr val="444444"/>
                </a:solidFill>
              </a:rPr>
              <a:t>Retrieval-Augmented Generation (RAG) over the Lebanese Penal Code + court rulings.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1E3A5F"/>
                </a:solidFill>
              </a:rPr>
              <a:t>• Languages: </a:t>
            </a:r>
            <a:r>
              <a:rPr sz="1800" b="0" i="0">
                <a:solidFill>
                  <a:srgbClr val="444444"/>
                </a:solidFill>
              </a:rPr>
              <a:t>Arabic, English, and French questions; the answer is written in the question's language.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1E3A5F"/>
                </a:solidFill>
              </a:rPr>
              <a:t>• Trust: </a:t>
            </a:r>
            <a:r>
              <a:rPr sz="1800" b="0" i="0">
                <a:solidFill>
                  <a:srgbClr val="444444"/>
                </a:solidFill>
              </a:rPr>
              <a:t>every article the answer relies on is checked against the corpus; a hallucination rate is reported.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1E3A5F"/>
                </a:solidFill>
              </a:rPr>
              <a:t>• Delivered as: </a:t>
            </a:r>
            <a:r>
              <a:rPr sz="1800" b="0" i="0">
                <a:solidFill>
                  <a:srgbClr val="444444"/>
                </a:solidFill>
              </a:rPr>
              <a:t>a Streamlit web app + a rigorous benchmark to measure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4. Architecture — The Agent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1516989" cy="137160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</a:t>
            </a:r>
          </a:p>
          <a:p>
            <a:pPr algn="ctr"/>
            <a:r>
              <a:rPr sz="115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83917" y="2377440"/>
            <a:ext cx="1516989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150" b="1" i="0">
                <a:solidFill>
                  <a:srgbClr val="FFFFFF"/>
                </a:solidFill>
              </a:rPr>
              <a:t>Query
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0635" y="2377440"/>
            <a:ext cx="1516989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150" b="1" i="0">
                <a:solidFill>
                  <a:srgbClr val="FFFFFF"/>
                </a:solidFill>
              </a:rPr>
              <a:t>Research
(RAG)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7352" y="2377440"/>
            <a:ext cx="1516989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150" b="1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4070" y="2377440"/>
            <a:ext cx="1516989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150" b="1" i="0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0787" y="2377440"/>
            <a:ext cx="1516989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150" b="1" i="0">
                <a:solidFill>
                  <a:srgbClr val="FFFFFF"/>
                </a:solidFill>
              </a:rPr>
              <a:t>Citation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17505" y="2377440"/>
            <a:ext cx="1516989" cy="1371600"/>
          </a:xfrm>
          <a:prstGeom prst="rect">
            <a:avLst/>
          </a:prstGeom>
          <a:solidFill>
            <a:srgbClr val="B4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sz="1150" b="1" i="0">
                <a:solidFill>
                  <a:srgbClr val="FFFFFF"/>
                </a:solidFill>
              </a:rPr>
              <a:t>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1153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i="0">
                <a:solidFill>
                  <a:srgbClr val="1E3A5F"/>
                </a:solidFill>
              </a:rPr>
              <a:t>• Orchestrator → </a:t>
            </a:r>
            <a:r>
              <a:rPr sz="1500" b="0" i="0">
                <a:solidFill>
                  <a:srgbClr val="444444"/>
                </a:solidFill>
              </a:rPr>
              <a:t>classifies the question type and the USER type, and routes the pipeline.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1E3A5F"/>
                </a:solidFill>
              </a:rPr>
              <a:t>• Query Understanding → </a:t>
            </a:r>
            <a:r>
              <a:rPr sz="1500" b="0" i="0">
                <a:solidFill>
                  <a:srgbClr val="444444"/>
                </a:solidFill>
              </a:rPr>
              <a:t>parses language/domain/facts (schema-validated).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1E3A5F"/>
                </a:solidFill>
              </a:rPr>
              <a:t>• Research → </a:t>
            </a:r>
            <a:r>
              <a:rPr sz="1500" b="0" i="0">
                <a:solidFill>
                  <a:srgbClr val="444444"/>
                </a:solidFill>
              </a:rPr>
              <a:t>retrieves the most relevant articles and rulings (hybrid search).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1E3A5F"/>
                </a:solidFill>
              </a:rPr>
              <a:t>• Analysis → </a:t>
            </a:r>
            <a:r>
              <a:rPr sz="1500" b="0" i="0">
                <a:solidFill>
                  <a:srgbClr val="444444"/>
                </a:solidFill>
              </a:rPr>
              <a:t>extracts applicable provisions, grounded against the sources.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1E3A5F"/>
                </a:solidFill>
              </a:rPr>
              <a:t>• Reasoning · Citation · Writing → </a:t>
            </a:r>
            <a:r>
              <a:rPr sz="1500" b="0" i="0">
                <a:solidFill>
                  <a:srgbClr val="444444"/>
                </a:solidFill>
              </a:rPr>
              <a:t>applies the law to the facts; formats &amp; verifies citations; writes the final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5. Adaptive Output — Who Is Asking?</a:t>
            </a:r>
          </a:p>
          <a:p>
            <a:r>
              <a:rPr sz="1300" b="0" i="0">
                <a:solidFill>
                  <a:srgbClr val="BFD3E6"/>
                </a:solidFill>
              </a:rPr>
              <a:t>The Orchestrator detects the user type and shapes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1E3A5F"/>
                </a:solidFill>
              </a:rPr>
              <a:t>• 👤 Citizen (general question) </a:t>
            </a:r>
            <a:r>
              <a:rPr sz="1800" b="0" i="0">
                <a:solidFill>
                  <a:srgbClr val="444444"/>
                </a:solidFill>
              </a:rPr>
              <a:t>→ a plain, jargon-free answer to their question.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E3A5F"/>
                </a:solidFill>
              </a:rPr>
              <a:t>• ⚖️ Lawyer </a:t>
            </a:r>
            <a:r>
              <a:rPr sz="1800" b="0" i="0">
                <a:solidFill>
                  <a:srgbClr val="444444"/>
                </a:solidFill>
              </a:rPr>
              <a:t>→ a structured advisory memorandum (defence-oriented) for a client's case.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E3A5F"/>
                </a:solidFill>
              </a:rPr>
              <a:t>• 👨‍⚖️ Judge (gives facts, wants ruling) </a:t>
            </a:r>
            <a:r>
              <a:rPr sz="1800" b="0" i="0">
                <a:solidFill>
                  <a:srgbClr val="444444"/>
                </a:solidFill>
              </a:rPr>
              <a:t>→ a formal judicial DECISION: facts → applicable law → reasoning → verdict.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</a:rPr>
              <a:t>• The user can pick the role or let the system auto-detect it from the phrasing.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6. Corpus &amp;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Bilingual corpus: </a:t>
            </a:r>
            <a:r>
              <a:rPr sz="1700" b="0" i="0">
                <a:solidFill>
                  <a:srgbClr val="444444"/>
                </a:solidFill>
              </a:rPr>
              <a:t>Lebanese Penal Code — 417 Arabic articles + 242 English articles + 54 Court of Cassation rulings = 713 indexed documents.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Ingestion: </a:t>
            </a:r>
            <a:r>
              <a:rPr sz="1700" b="0" i="0">
                <a:solidFill>
                  <a:srgbClr val="444444"/>
                </a:solidFill>
              </a:rPr>
              <a:t>a reproducible pipeline reads the sources, embeds them, and records exactly what was indexed.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Extensible: </a:t>
            </a:r>
            <a:r>
              <a:rPr sz="1700" b="0" i="0">
                <a:solidFill>
                  <a:srgbClr val="444444"/>
                </a:solidFill>
              </a:rPr>
              <a:t>new sources (e.g., contract law, French texts) are auto-indexed by the same pipeline.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Provenance: </a:t>
            </a:r>
            <a:r>
              <a:rPr sz="1700" b="0" i="0">
                <a:solidFill>
                  <a:srgbClr val="444444"/>
                </a:solidFill>
              </a:rPr>
              <a:t>every article has a validated number, used later as the 'gold answer' in the benchmark.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7. Retrieval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Method: </a:t>
            </a:r>
            <a:r>
              <a:rPr sz="1700" b="0" i="0">
                <a:solidFill>
                  <a:srgbClr val="444444"/>
                </a:solidFill>
              </a:rPr>
              <a:t>Hybrid search = keyword (BM25) + meaning (dense embeddings) — chosen by benchmark evidence.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Embeddings: </a:t>
            </a:r>
            <a:r>
              <a:rPr sz="1700" b="0" i="0">
                <a:solidFill>
                  <a:srgbClr val="444444"/>
                </a:solidFill>
              </a:rPr>
              <a:t>multilingual sentence-transformer (paraphrase-multilingual-mpnet), local &amp; free.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Cross-lingual: </a:t>
            </a:r>
            <a:r>
              <a:rPr sz="1700" b="0" i="0">
                <a:solidFill>
                  <a:srgbClr val="444444"/>
                </a:solidFill>
              </a:rPr>
              <a:t>articles and rulings are searched in separate pools; the article number makes matches language-agnostic.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Evidence over intuition: </a:t>
            </a:r>
            <a:r>
              <a:rPr sz="1700" b="0" i="0">
                <a:solidFill>
                  <a:srgbClr val="444444"/>
                </a:solidFill>
              </a:rPr>
              <a:t>a popular English re-ranker was TESTED and REJECTED — it hurt this Arabic/legal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8. Trust &amp; Anti-Hallucination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Grounding: </a:t>
            </a:r>
            <a:r>
              <a:rPr sz="1700" b="0" i="0">
                <a:solidFill>
                  <a:srgbClr val="444444"/>
                </a:solidFill>
              </a:rPr>
              <a:t>each extracted provision is checked against the retrieved text; ungrounded ones are flagged.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Citation verification: </a:t>
            </a:r>
            <a:r>
              <a:rPr sz="1700" b="0" i="0">
                <a:solidFill>
                  <a:srgbClr val="444444"/>
                </a:solidFill>
              </a:rPr>
              <a:t>every cited article number is verified against the corpus index (no invented citations).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Closed citation set: </a:t>
            </a:r>
            <a:r>
              <a:rPr sz="1700" b="0" i="0">
                <a:solidFill>
                  <a:srgbClr val="444444"/>
                </a:solidFill>
              </a:rPr>
              <a:t>the memo may cite ONLY the verified articles it was given (precision-first).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Trust metric: </a:t>
            </a:r>
            <a:r>
              <a:rPr sz="1700" b="0" i="0">
                <a:solidFill>
                  <a:srgbClr val="444444"/>
                </a:solidFill>
              </a:rPr>
              <a:t>each answer reports a hallucination rate and a grounding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9. The Web Application (UI)</a:t>
            </a:r>
          </a:p>
          <a:p>
            <a:r>
              <a:rPr sz="1300" b="0" i="0">
                <a:solidFill>
                  <a:srgbClr val="BFD3E6"/>
                </a:solidFill>
              </a:rPr>
              <a:t>Built with Streamlit — three working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🔗 End-to-End Pipeline: </a:t>
            </a:r>
            <a:r>
              <a:rPr sz="1700" b="0" i="0">
                <a:solidFill>
                  <a:srgbClr val="444444"/>
                </a:solidFill>
              </a:rPr>
              <a:t>ask a question, pick your role, run all 7 agents; see the memo, sources, trust indicators, tokens/cost.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🔬 Individual Agents: </a:t>
            </a:r>
            <a:r>
              <a:rPr sz="1700" b="0" i="0">
                <a:solidFill>
                  <a:srgbClr val="444444"/>
                </a:solidFill>
              </a:rPr>
              <a:t>run and inspect each agent in isolation (inputs, outputs, retrieved chunks) for debugging.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📊 Benchmarking: </a:t>
            </a:r>
            <a:r>
              <a:rPr sz="1700" b="0" i="0">
                <a:solidFill>
                  <a:srgbClr val="444444"/>
                </a:solidFill>
              </a:rPr>
              <a:t>generate test questions, add reference answers, and score the system (details next).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E3A5F"/>
                </a:solidFill>
              </a:rPr>
              <a:t>• Design principle: </a:t>
            </a:r>
            <a:r>
              <a:rPr sz="1600" b="0" i="0">
                <a:solidFill>
                  <a:srgbClr val="444444"/>
                </a:solidFill>
              </a:rPr>
              <a:t>step-by-step transparency: every agent's output, timing, and cost are shown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9. UI — Pipeline View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Role selector: </a:t>
            </a:r>
            <a:r>
              <a:rPr sz="1650" b="0" i="0">
                <a:solidFill>
                  <a:srgbClr val="444444"/>
                </a:solidFill>
              </a:rPr>
              <a:t>Citizen / Lawyer / Judge / Auto-detect — changes the output shape.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Per-agent panels: </a:t>
            </a:r>
            <a:r>
              <a:rPr sz="1650" b="0" i="0">
                <a:solidFill>
                  <a:srgbClr val="444444"/>
                </a:solidFill>
              </a:rPr>
              <a:t>each of the 7 steps shows a ✅, its time, and its output (expandable).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Grounding &amp; citations: </a:t>
            </a:r>
            <a:r>
              <a:rPr sz="1650" b="0" i="0">
                <a:solidFill>
                  <a:srgbClr val="444444"/>
                </a:solidFill>
              </a:rPr>
              <a:t>provisions marked grounded/ungrounded; citations shown ✓ verified / ⚠ unverified.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Memorandum: </a:t>
            </a:r>
            <a:r>
              <a:rPr sz="1650" b="0" i="0">
                <a:solidFill>
                  <a:srgbClr val="444444"/>
                </a:solidFill>
              </a:rPr>
              <a:t>rendered as a clean document — right-to-left for Arabic, in the query's language.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Cost &amp; trust summary: </a:t>
            </a:r>
            <a:r>
              <a:rPr sz="1650" b="0" i="0">
                <a:solidFill>
                  <a:srgbClr val="444444"/>
                </a:solidFill>
              </a:rPr>
              <a:t>tokens, USD cost, latency, grounding rate, and hallucination rate per run.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Download: </a:t>
            </a:r>
            <a:r>
              <a:rPr sz="1650" b="0" i="0">
                <a:solidFill>
                  <a:srgbClr val="444444"/>
                </a:solidFill>
              </a:rPr>
              <a:t>full results (JSON) and the memorandum are downloadable.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37160" cy="12801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65176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BFD3E6"/>
                </a:solidFill>
              </a:rPr>
              <a:t>Part II</a:t>
            </a:r>
          </a:p>
          <a:p>
            <a:r>
              <a:rPr sz="3400" b="1" i="0">
                <a:solidFill>
                  <a:srgbClr val="FFFFFF"/>
                </a:solidFill>
              </a:rPr>
              <a:t>Benchmarking — The Core Contribution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10. Benchmark — Why &amp; How the Dataset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Why: </a:t>
            </a:r>
            <a:r>
              <a:rPr sz="1700" b="0" i="0">
                <a:solidFill>
                  <a:srgbClr val="444444"/>
                </a:solidFill>
              </a:rPr>
              <a:t>to turn 'the answers look good' into OBJECTIVE, repeatable, defensible numbers.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Grounded generation: </a:t>
            </a:r>
            <a:r>
              <a:rPr sz="1700" b="0" i="0">
                <a:solidFill>
                  <a:srgbClr val="444444"/>
                </a:solidFill>
              </a:rPr>
              <a:t>196 questions generated directly from the REAL corpus (articles + rulings) — never invented.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Verified gold: </a:t>
            </a:r>
            <a:r>
              <a:rPr sz="1700" b="0" i="0">
                <a:solidFill>
                  <a:srgbClr val="444444"/>
                </a:solidFill>
              </a:rPr>
              <a:t>each question is stored with its correct article number(s) — the 'gold answer' — validated automatically.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Coverage: </a:t>
            </a:r>
            <a:r>
              <a:rPr sz="1700" b="0" i="0">
                <a:solidFill>
                  <a:srgbClr val="444444"/>
                </a:solidFill>
              </a:rPr>
              <a:t>trilingual (~69 AR / 65 EN / 62 FR); covers 204 distinct articles; general questions + case scenarios.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Reproducible: </a:t>
            </a:r>
            <a:r>
              <a:rPr sz="1700" b="0" i="0">
                <a:solidFill>
                  <a:srgbClr val="444444"/>
                </a:solidFill>
              </a:rPr>
              <a:t>batched LLM generation (~10 questions per call) for efficiency; can be re-generated on demand.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11. Benchmark — What Is Measured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577840"/>
                <a:gridCol w="3291840"/>
              </a:tblGrid>
              <a:tr h="692331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Question it answers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Precision@k, Recall@k, MRR, nDCG, hit-rate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Does it find the correct article?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Citations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Precision, Recall, F1 vs. gold articles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Does the answer cite the right articles?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Answer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LLM-as-judge 1–5 (correctness, citations, completeness, clarity)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Is the final answer sound &amp; well written?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Reference-based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Judge compares vs. a human 'source of truth'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Does it match the expert answer?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Latency, tokens, cost per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Is it practical to run?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E3A5F"/>
                          </a:solidFill>
                        </a:rPr>
                        <a:t>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Mean ± 95% CI, paired significance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444444"/>
                          </a:solidFill>
                        </a:rPr>
                        <a:t>Are differences real, not chance?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12. Benchmark — How It Runs (in the App)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 b="1" i="0">
                <a:solidFill>
                  <a:srgbClr val="1E3A5F"/>
                </a:solidFill>
              </a:rPr>
              <a:t>• On-the-fly generation: </a:t>
            </a:r>
            <a:r>
              <a:rPr sz="1650" b="0" i="0">
                <a:solidFill>
                  <a:srgbClr val="444444"/>
                </a:solidFill>
              </a:rPr>
              <a:t>the user sets the number of questions; the generator produces grounded questions and shows them 10 per page.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1E3A5F"/>
                </a:solidFill>
              </a:rPr>
              <a:t>• Reference answers: </a:t>
            </a:r>
            <a:r>
              <a:rPr sz="1650" b="0" i="0">
                <a:solidFill>
                  <a:srgbClr val="444444"/>
                </a:solidFill>
              </a:rPr>
              <a:t>an editable column where the user enters the ground-truth answer (REQUIRED for judged runs).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1E3A5F"/>
                </a:solidFill>
              </a:rPr>
              <a:t>• Full-pipeline comparison: </a:t>
            </a:r>
            <a:r>
              <a:rPr sz="1650" b="0" i="0">
                <a:solidFill>
                  <a:srgbClr val="444444"/>
                </a:solidFill>
              </a:rPr>
              <a:t>compares Multi-Agent vs. Single-Agent vs. No-RAG baselines; the judge scores each against the reference.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1E3A5F"/>
                </a:solidFill>
              </a:rPr>
              <a:t>• Automatic scoring: </a:t>
            </a:r>
            <a:r>
              <a:rPr sz="1650" b="0" i="0">
                <a:solidFill>
                  <a:srgbClr val="444444"/>
                </a:solidFill>
              </a:rPr>
              <a:t>objective citation metrics are computed automatically from the gold article numbers.</a:t>
            </a:r>
          </a:p>
          <a:p>
            <a:pPr>
              <a:spcAft>
                <a:spcPts val="800"/>
              </a:spcAft>
            </a:pPr>
            <a:r>
              <a:rPr sz="1650" b="1" i="0">
                <a:solidFill>
                  <a:srgbClr val="1E3A5F"/>
                </a:solidFill>
              </a:rPr>
              <a:t>• Output: </a:t>
            </a:r>
            <a:r>
              <a:rPr sz="1650" b="0" i="0">
                <a:solidFill>
                  <a:srgbClr val="444444"/>
                </a:solidFill>
              </a:rPr>
              <a:t>results: per-system scores, per-dimension table, charts, and downloadable JSON.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13. Results — Accuracy by Language</a:t>
            </a:r>
          </a:p>
        </p:txBody>
      </p:sp>
      <p:pic>
        <p:nvPicPr>
          <p:cNvPr id="4" name="Picture 3" descr="fig_langu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89041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Arabic (primary legal language): </a:t>
            </a:r>
            <a:r>
              <a:rPr sz="1700" b="0" i="0">
                <a:solidFill>
                  <a:srgbClr val="444444"/>
                </a:solidFill>
              </a:rPr>
              <a:t>72% of correct articles in the top 5, 81% in the top 10.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English / French: </a:t>
            </a:r>
            <a:r>
              <a:rPr sz="1700" b="0" i="0">
                <a:solidFill>
                  <a:srgbClr val="444444"/>
                </a:solidFill>
              </a:rPr>
              <a:t>lower — the corpus is Arabic-primary; cross-lingual retrieval is the main next step.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E3A5F"/>
                </a:solidFill>
              </a:rPr>
              <a:t>• Note: </a:t>
            </a:r>
            <a:r>
              <a:rPr sz="1500" b="0" i="0">
                <a:solidFill>
                  <a:srgbClr val="444444"/>
                </a:solidFill>
              </a:rPr>
              <a:t>the article-number metric fairly credits cross-lingual matches.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14. Results — Search Method &amp; Answer Quality</a:t>
            </a:r>
          </a:p>
        </p:txBody>
      </p:sp>
      <p:pic>
        <p:nvPicPr>
          <p:cNvPr id="4" name="Picture 3" descr="fi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5033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Best method: </a:t>
            </a:r>
            <a:r>
              <a:rPr sz="1700" b="0" i="0">
                <a:solidFill>
                  <a:srgbClr val="444444"/>
                </a:solidFill>
              </a:rPr>
              <a:t>hybrid (keyword + meaning) finds the correct law most often — chosen default.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Rejected by data: </a:t>
            </a:r>
            <a:r>
              <a:rPr sz="1700" b="0" i="0">
                <a:solidFill>
                  <a:srgbClr val="444444"/>
                </a:solidFill>
              </a:rPr>
              <a:t>a popular English re-ranker made results worse and was removed.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Answer quality: </a:t>
            </a:r>
            <a:r>
              <a:rPr sz="1700" b="0" i="0">
                <a:solidFill>
                  <a:srgbClr val="444444"/>
                </a:solidFill>
              </a:rPr>
              <a:t>final memoranda rated ~4.6/5 for legal quality by the LLM judge.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1E3A5F"/>
                </a:solidFill>
              </a:rPr>
              <a:t>• Practical: </a:t>
            </a:r>
            <a:r>
              <a:rPr sz="1700" b="0" i="0">
                <a:solidFill>
                  <a:srgbClr val="444444"/>
                </a:solidFill>
              </a:rPr>
              <a:t>~2–3 minutes, ~$0.12 per full answer.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15.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Multi-agent works: </a:t>
            </a:r>
            <a:r>
              <a:rPr sz="1700" b="0" i="0">
                <a:solidFill>
                  <a:srgbClr val="444444"/>
                </a:solidFill>
              </a:rPr>
              <a:t>specialised agents produce grounded, well-structured answers (4.6/5).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Evidence-based engineering: </a:t>
            </a:r>
            <a:r>
              <a:rPr sz="1700" b="0" i="0">
                <a:solidFill>
                  <a:srgbClr val="444444"/>
                </a:solidFill>
              </a:rPr>
              <a:t>hybrid &gt; semantic; the re-ranker hurts; the current embedding is validated — all decided by the benchmark.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Bottleneck identified: </a:t>
            </a:r>
            <a:r>
              <a:rPr sz="1700" b="0" i="0">
                <a:solidFill>
                  <a:srgbClr val="444444"/>
                </a:solidFill>
              </a:rPr>
              <a:t>answer quality is bounded by retrieval recall — if the article isn't found, it can't be cited.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Precision fix measured: </a:t>
            </a:r>
            <a:r>
              <a:rPr sz="1700" b="0" i="0">
                <a:solidFill>
                  <a:srgbClr val="444444"/>
                </a:solidFill>
              </a:rPr>
              <a:t>tightening citations raised citation-F1 ~3× (0.04 → 0.13) on the same questions.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16. Engineering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Standardised model: </a:t>
            </a:r>
            <a:r>
              <a:rPr sz="1650" b="0" i="0">
                <a:solidFill>
                  <a:srgbClr val="444444"/>
                </a:solidFill>
              </a:rPr>
              <a:t>Claude Sonnet 4.5 (selectable: 4.6 / Opus / Haiku).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Headless pipeline: </a:t>
            </a:r>
            <a:r>
              <a:rPr sz="1650" b="0" i="0">
                <a:solidFill>
                  <a:srgbClr val="444444"/>
                </a:solidFill>
              </a:rPr>
              <a:t>the full system runs without the UI for batch evaluation.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Tests + CI: </a:t>
            </a:r>
            <a:r>
              <a:rPr sz="1650" b="0" i="0">
                <a:solidFill>
                  <a:srgbClr val="444444"/>
                </a:solidFill>
              </a:rPr>
              <a:t>unit tests and GitHub Actions run automatically on every change.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Telemetry: </a:t>
            </a:r>
            <a:r>
              <a:rPr sz="1650" b="0" i="0">
                <a:solidFill>
                  <a:srgbClr val="444444"/>
                </a:solidFill>
              </a:rPr>
              <a:t>tokens, cost, and latency tracked per agent.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Reproducible: </a:t>
            </a:r>
            <a:r>
              <a:rPr sz="1650" b="0" i="0">
                <a:solidFill>
                  <a:srgbClr val="444444"/>
                </a:solidFill>
              </a:rPr>
              <a:t>one command rebuilds the index; the benchmark is regenerable.</a:t>
            </a:r>
          </a:p>
          <a:p>
            <a:pPr>
              <a:spcAft>
                <a:spcPts val="900"/>
              </a:spcAft>
            </a:pPr>
            <a:r>
              <a:rPr sz="1650" b="1" i="0">
                <a:solidFill>
                  <a:srgbClr val="1E3A5F"/>
                </a:solidFill>
              </a:rPr>
              <a:t>• Version-controlled: </a:t>
            </a:r>
            <a:r>
              <a:rPr sz="1650" b="0" i="0">
                <a:solidFill>
                  <a:srgbClr val="444444"/>
                </a:solidFill>
              </a:rPr>
              <a:t>all work committed and pushed to GitHub.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17.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Limitation: </a:t>
            </a:r>
            <a:r>
              <a:rPr sz="1700" b="0" i="0">
                <a:solidFill>
                  <a:srgbClr val="444444"/>
                </a:solidFill>
              </a:rPr>
              <a:t>English/French retrieval lags Arabic (~40% vs 72%).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Scope: </a:t>
            </a:r>
            <a:r>
              <a:rPr sz="1700" b="0" i="0">
                <a:solidFill>
                  <a:srgbClr val="444444"/>
                </a:solidFill>
              </a:rPr>
              <a:t>corpus is criminal (Penal) law only; single-article gold is strict for multi-article questions.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Next — retrieval: </a:t>
            </a:r>
            <a:r>
              <a:rPr sz="1700" b="0" i="0">
                <a:solidFill>
                  <a:srgbClr val="444444"/>
                </a:solidFill>
              </a:rPr>
              <a:t>evaluate the built-in cross-lingual translation; test stronger multilingual embeddings.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Next — corpus &amp; rigor: </a:t>
            </a:r>
            <a:r>
              <a:rPr sz="1700" b="0" i="0">
                <a:solidFill>
                  <a:srgbClr val="444444"/>
                </a:solidFill>
              </a:rPr>
              <a:t>add contract law + French texts (pipeline supports it); expert (human) validation.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</a:rPr>
              <a:t>• Next — agents &amp; eval: </a:t>
            </a:r>
            <a:r>
              <a:rPr sz="1700" b="0" i="0">
                <a:solidFill>
                  <a:srgbClr val="444444"/>
                </a:solidFill>
              </a:rPr>
              <a:t>structured reasoning, a verifier agent, and a full statistical comparison run.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18. Conclusion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800" b="1" i="0">
                <a:solidFill>
                  <a:srgbClr val="0F9D58"/>
                </a:solidFill>
              </a:rPr>
              <a:t>✓ A working trilingual legal AI </a:t>
            </a:r>
            <a:r>
              <a:rPr sz="1800" b="0" i="0">
                <a:solidFill>
                  <a:srgbClr val="FFFFFF"/>
                </a:solidFill>
              </a:rPr>
              <a:t>for Lebanese law: grounded, cited, adaptive to the user.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F9D58"/>
                </a:solidFill>
              </a:rPr>
              <a:t>✓ A rigorous benchmark </a:t>
            </a:r>
            <a:r>
              <a:rPr sz="1800" b="0" i="0">
                <a:solidFill>
                  <a:srgbClr val="FFFFFF"/>
                </a:solidFill>
              </a:rPr>
              <a:t>of 196 grounded questions with validated gold answers and multi-metric scoring.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F9D58"/>
                </a:solidFill>
              </a:rPr>
              <a:t>✓ Evidence-based design </a:t>
            </a:r>
            <a:r>
              <a:rPr sz="1800" b="0" i="0">
                <a:solidFill>
                  <a:srgbClr val="FFFFFF"/>
                </a:solidFill>
              </a:rPr>
              <a:t>— every retrieval choice proven (or rejected) by measurement.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F9D58"/>
                </a:solidFill>
              </a:rPr>
              <a:t>✓ Trust by construction </a:t>
            </a:r>
            <a:r>
              <a:rPr sz="1800" b="0" i="0">
                <a:solidFill>
                  <a:srgbClr val="FFFFFF"/>
                </a:solidFill>
              </a:rPr>
              <a:t>— grounding, citation verification, and a reported hallucination rate.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0F9D58"/>
                </a:solidFill>
              </a:rPr>
              <a:t>✓ Reproducible &amp; engineered </a:t>
            </a:r>
            <a:r>
              <a:rPr sz="1800" b="0" i="0">
                <a:solidFill>
                  <a:srgbClr val="FFFFFF"/>
                </a:solidFill>
              </a:rPr>
              <a:t>— tests, CI, telemetry, and a usable web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